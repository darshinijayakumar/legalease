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LegalEase</a:t>
            </a:r>
          </a:p>
          <a:p>
            <a:pPr algn="ctr">
              <a:defRPr sz="2500">
                <a:solidFill>
                  <a:srgbClr val="BED7F0"/>
                </a:solidFill>
              </a:defRPr>
            </a:pPr>
            <a:r>
              <a:t>AI-Powered Legal Document Generator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2926080"/>
            <a:ext cx="4114800" cy="731520"/>
          </a:xfrm>
          <a:prstGeom prst="round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B.Sc. Computer Science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069080"/>
            <a:ext cx="8229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700"/>
              </a:spcAft>
              <a:defRPr sz="1500">
                <a:solidFill>
                  <a:srgbClr val="FFFFFF"/>
                </a:solidFill>
              </a:defRPr>
            </a:pPr>
            <a:r>
              <a:t>Presented by: [STUDENT NAME]  |  [REGISTER NUMBER]</a:t>
            </a:r>
          </a:p>
          <a:p>
            <a:pPr algn="ctr">
              <a:spcAft>
                <a:spcPts val="700"/>
              </a:spcAft>
              <a:defRPr sz="1500">
                <a:solidFill>
                  <a:srgbClr val="FFFFFF"/>
                </a:solidFill>
              </a:defRPr>
            </a:pPr>
            <a:r>
              <a:t>Guide: [GUIDE NAME]  |  Department of Computer Science</a:t>
            </a:r>
          </a:p>
          <a:p>
            <a:pPr algn="ctr">
              <a:spcAft>
                <a:spcPts val="700"/>
              </a:spcAft>
              <a:defRPr sz="1300">
                <a:solidFill>
                  <a:srgbClr val="FFFFFF"/>
                </a:solidFill>
              </a:defRPr>
            </a:pPr>
            <a:r>
              <a:t>[COLLEGE / UNIVERSITY NAME]  |  Academic Year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13D"/>
                </a:solidFill>
              </a:rPr>
              <a:t>Problem Statement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36576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474720" cy="420624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73152" cy="4206240"/>
          </a:xfrm>
          <a:prstGeom prst="rect">
            <a:avLst/>
          </a:prstGeom>
          <a:solidFill>
            <a:srgbClr val="C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728216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3127248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Legal-document drafting can be time-consuming for users who are unfamiliar with formal structure, standard clauses, and document formatting.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00200"/>
            <a:ext cx="3474720" cy="420624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600200"/>
            <a:ext cx="73152" cy="4206240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728216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Limitations of templates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30552"/>
            <a:ext cx="3127248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Static templates require manual adaptation, may include irrelevant clauses, and do not naturally respond to different parties, terms, or dates.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600200"/>
            <a:ext cx="3474720" cy="420624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10144" y="1600200"/>
            <a:ext cx="73152" cy="4206240"/>
          </a:xfrm>
          <a:prstGeom prst="rect">
            <a:avLst/>
          </a:prstGeom>
          <a:solidFill>
            <a:srgbClr val="27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728216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Proposed direction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130552"/>
            <a:ext cx="3127248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Use Generative AI to turn plain-language requirements into a structured first draft that can be reviewed, edited, and exported.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464"/>
                </a:solidFill>
              </a:defRPr>
            </a:pPr>
            <a:r>
              <a:t>LegalEase | B.Sc. Computer Science Project Presentation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13D"/>
                </a:solidFill>
              </a:rP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36576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Develop an AI-powered legal-document generator using Python.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Build a simple Streamlit frontend for collecting document requirements.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Implement a FastAPI backend with validated REST endpoints.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Integrate Google Gemini for structured draft generation.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Provide preview and inline editing of generated content.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Export documents as TXT, DOCX, and PDF.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Apply modular design, environment-based configuration, error handling, and testing.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464"/>
                </a:solidFill>
              </a:defRPr>
            </a:pPr>
            <a:r>
              <a:t>LegalEase | B.Sc. Computer Science Project Presentation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13D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F91"/>
                </a:solidFill>
              </a:defRPr>
            </a:pPr>
            <a:r>
              <a:t>Frontend → REST API → AI Core → Gemini → Editable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972800" cy="36576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146304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2C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</a:defRPr>
            </a:pPr>
            <a:r>
              <a:t>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2286000"/>
            <a:ext cx="146304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2C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</a:defRPr>
            </a:pPr>
            <a:r>
              <a:t>Streamlit</a:t>
            </a:r>
            <a:br/>
            <a:r>
              <a:t>Frontend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2286000"/>
            <a:ext cx="1463040" cy="1143000"/>
          </a:xfrm>
          <a:prstGeom prst="roundRect">
            <a:avLst/>
          </a:prstGeom>
          <a:solidFill>
            <a:srgbClr val="DCE7F1"/>
          </a:solidFill>
          <a:ln>
            <a:solidFill>
              <a:srgbClr val="2C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</a:defRPr>
            </a:pPr>
            <a:r>
              <a:t>FastAPI</a:t>
            </a:r>
            <a:br/>
            <a:r>
              <a:t>Backend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286000"/>
            <a:ext cx="146304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2C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</a:defRPr>
            </a:pPr>
            <a:r>
              <a:t>AI 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2286000"/>
            <a:ext cx="1463040" cy="1143000"/>
          </a:xfrm>
          <a:prstGeom prst="roundRect">
            <a:avLst/>
          </a:prstGeom>
          <a:solidFill>
            <a:srgbClr val="DCE7F1"/>
          </a:solidFill>
          <a:ln>
            <a:solidFill>
              <a:srgbClr val="2C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</a:defRPr>
            </a:pPr>
            <a:r>
              <a:t>Google</a:t>
            </a:r>
            <a:br/>
            <a:r>
              <a:t>Gemini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95560" y="2286000"/>
            <a:ext cx="146304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2C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13D"/>
                </a:solidFill>
              </a:defRPr>
            </a:pPr>
            <a:r>
              <a:t>Preview /</a:t>
            </a:r>
            <a:br/>
            <a:r>
              <a:t>Export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74519" y="2852928"/>
            <a:ext cx="274320" cy="0"/>
          </a:xfrm>
          <a:prstGeom prst="line">
            <a:avLst/>
          </a:prstGeom>
          <a:ln w="25400">
            <a:solidFill>
              <a:srgbClr val="2C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77639" y="2852928"/>
            <a:ext cx="274320" cy="0"/>
          </a:xfrm>
          <a:prstGeom prst="line">
            <a:avLst/>
          </a:prstGeom>
          <a:ln w="25400">
            <a:solidFill>
              <a:srgbClr val="2C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60" y="2852928"/>
            <a:ext cx="274320" cy="0"/>
          </a:xfrm>
          <a:prstGeom prst="line">
            <a:avLst/>
          </a:prstGeom>
          <a:ln w="25400">
            <a:solidFill>
              <a:srgbClr val="2C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001000" y="2852928"/>
            <a:ext cx="274320" cy="0"/>
          </a:xfrm>
          <a:prstGeom prst="line">
            <a:avLst/>
          </a:prstGeom>
          <a:ln w="25400">
            <a:solidFill>
              <a:srgbClr val="2C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21240" y="2852928"/>
            <a:ext cx="274320" cy="0"/>
          </a:xfrm>
          <a:prstGeom prst="line">
            <a:avLst/>
          </a:prstGeom>
          <a:ln w="25400">
            <a:solidFill>
              <a:srgbClr val="2C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05840" y="411480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POST /generate carries document_type, parties, terms, and dates.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Gemini returns generated text to FastAPI; Streamlit displays it and provides download options.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464"/>
                </a:solidFill>
              </a:defRPr>
            </a:pPr>
            <a:r>
              <a:t>LegalEase | B.Sc. Computer Science Project Presentation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13D"/>
                </a:solidFill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36576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2606040" cy="173736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645920"/>
            <a:ext cx="73152" cy="1737360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773936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176272"/>
            <a:ext cx="22585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Core programming language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1645920"/>
            <a:ext cx="2606040" cy="173736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47288" y="1645920"/>
            <a:ext cx="73152" cy="1737360"/>
          </a:xfrm>
          <a:prstGeom prst="rect">
            <a:avLst/>
          </a:prstGeom>
          <a:solidFill>
            <a:srgbClr val="27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48456" y="1773936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Streamlit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456" y="2176272"/>
            <a:ext cx="22585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Interactive frontend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216" y="1645920"/>
            <a:ext cx="2606040" cy="173736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0216" y="1645920"/>
            <a:ext cx="73152" cy="1737360"/>
          </a:xfrm>
          <a:prstGeom prst="rect">
            <a:avLst/>
          </a:prstGeom>
          <a:solidFill>
            <a:srgbClr val="C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1773936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FastAPI + Uvicorn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176272"/>
            <a:ext cx="22585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REST backend and ASGI server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53144" y="1645920"/>
            <a:ext cx="2606040" cy="173736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53144" y="1645920"/>
            <a:ext cx="73152" cy="173736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54312" y="1773936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Google Gemini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4312" y="2176272"/>
            <a:ext cx="22585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Generative AI document drafting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794760"/>
            <a:ext cx="2606040" cy="173736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3794760"/>
            <a:ext cx="73152" cy="1737360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" y="3922776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Pydantic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4325112"/>
            <a:ext cx="22585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Request validation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47288" y="3794760"/>
            <a:ext cx="2606040" cy="173736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447288" y="3794760"/>
            <a:ext cx="73152" cy="1737360"/>
          </a:xfrm>
          <a:prstGeom prst="rect">
            <a:avLst/>
          </a:prstGeom>
          <a:solidFill>
            <a:srgbClr val="27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48456" y="3922776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python-docx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48456" y="4325112"/>
            <a:ext cx="22585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Word document export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0216" y="3794760"/>
            <a:ext cx="2606040" cy="173736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0216" y="3794760"/>
            <a:ext cx="73152" cy="1737360"/>
          </a:xfrm>
          <a:prstGeom prst="rect">
            <a:avLst/>
          </a:prstGeom>
          <a:solidFill>
            <a:srgbClr val="C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01384" y="3922776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FPDF2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1384" y="4325112"/>
            <a:ext cx="22585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PDF export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53144" y="3794760"/>
            <a:ext cx="2606040" cy="173736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53144" y="3794760"/>
            <a:ext cx="73152" cy="173736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54312" y="3922776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pytest / httpx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54312" y="4325112"/>
            <a:ext cx="22585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API testing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464"/>
                </a:solidFill>
              </a:defRPr>
            </a:pPr>
            <a:r>
              <a:t>LegalEase | B.Sc. Computer Science Project Presentation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13D"/>
                </a:solidFill>
              </a:rPr>
              <a:t>Project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36576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192024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3152" cy="1920240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682495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84831"/>
            <a:ext cx="312724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frontend/app.py</a:t>
            </a:r>
            <a:br/>
            <a:r>
              <a:t>Collects inputs, calls the API, manages session state, displays preview, supports editing and downloads.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554480"/>
            <a:ext cx="3474720" cy="192024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554480"/>
            <a:ext cx="73152" cy="1920240"/>
          </a:xfrm>
          <a:prstGeom prst="rect">
            <a:avLst/>
          </a:prstGeom>
          <a:solidFill>
            <a:srgbClr val="27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682495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84831"/>
            <a:ext cx="312724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legalEaseAPI/main.py + routes.py</a:t>
            </a:r>
            <a:br/>
            <a:r>
              <a:t>Creates FastAPI app, configures CORS, validates requests, and exposes /generate.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554480"/>
            <a:ext cx="3474720" cy="192024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10144" y="1554480"/>
            <a:ext cx="73152" cy="1920240"/>
          </a:xfrm>
          <a:prstGeom prst="rect">
            <a:avLst/>
          </a:prstGeom>
          <a:solidFill>
            <a:srgbClr val="C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682495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AI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084831"/>
            <a:ext cx="312724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ai_core/gemini_generator.py</a:t>
            </a:r>
            <a:br/>
            <a:r>
              <a:t>Loads API configuration, constructs the structured prompt, calls Gemini, and returns 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3794760"/>
            <a:ext cx="347472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560320" y="3794760"/>
            <a:ext cx="73152" cy="164592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61488" y="3922776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Formatting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4325112"/>
            <a:ext cx="31272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utils/formatters.py</a:t>
            </a:r>
            <a:br/>
            <a:r>
              <a:t>TXT, DOCX, PDF, and HTML preview generation.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794760"/>
            <a:ext cx="347472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794760"/>
            <a:ext cx="73152" cy="1645920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3922776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325112"/>
            <a:ext cx="31272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tests/test_api.py</a:t>
            </a:r>
            <a:br/>
            <a:r>
              <a:t>Checks home, health, and request validation behavior.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464"/>
                </a:solidFill>
              </a:defRPr>
            </a:pPr>
            <a:r>
              <a:t>LegalEase | B.Sc. Computer Science Project Presentation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13D"/>
                </a:solidFill>
              </a:rPr>
              <a:t>Application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36576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2148840"/>
            <a:ext cx="141732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2C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13D"/>
                </a:solidFill>
              </a:defRPr>
            </a:pPr>
            <a:r>
              <a:t>1</a:t>
            </a:r>
            <a:br/>
            <a:r>
              <a:t>Select document type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20240" y="2670048"/>
            <a:ext cx="210312" cy="0"/>
          </a:xfrm>
          <a:prstGeom prst="line">
            <a:avLst/>
          </a:prstGeom>
          <a:ln w="25400">
            <a:solidFill>
              <a:srgbClr val="2C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148840" y="2148840"/>
            <a:ext cx="141732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2C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13D"/>
                </a:solidFill>
              </a:defRPr>
            </a:pPr>
            <a:r>
              <a:t>2</a:t>
            </a:r>
            <a:br/>
            <a:r>
              <a:t>Enter parties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66160" y="2670048"/>
            <a:ext cx="210312" cy="0"/>
          </a:xfrm>
          <a:prstGeom prst="line">
            <a:avLst/>
          </a:prstGeom>
          <a:ln w="25400">
            <a:solidFill>
              <a:srgbClr val="2C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94760" y="2148840"/>
            <a:ext cx="141732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2C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13D"/>
                </a:solidFill>
              </a:defRPr>
            </a:pPr>
            <a:r>
              <a:t>3</a:t>
            </a:r>
            <a:br/>
            <a:r>
              <a:t>Enter terms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12080" y="2670048"/>
            <a:ext cx="210312" cy="0"/>
          </a:xfrm>
          <a:prstGeom prst="line">
            <a:avLst/>
          </a:prstGeom>
          <a:ln w="25400">
            <a:solidFill>
              <a:srgbClr val="2C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40680" y="2148840"/>
            <a:ext cx="141732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2C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13D"/>
                </a:solidFill>
              </a:defRPr>
            </a:pPr>
            <a:r>
              <a:t>4</a:t>
            </a:r>
            <a:br/>
            <a:r>
              <a:t>Choose effective date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0" y="2670048"/>
            <a:ext cx="210312" cy="0"/>
          </a:xfrm>
          <a:prstGeom prst="line">
            <a:avLst/>
          </a:prstGeom>
          <a:ln w="25400">
            <a:solidFill>
              <a:srgbClr val="2C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086600" y="2148840"/>
            <a:ext cx="141732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2C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13D"/>
                </a:solidFill>
              </a:defRPr>
            </a:pPr>
            <a:r>
              <a:t>5</a:t>
            </a:r>
            <a:br/>
            <a:r>
              <a:t>Generate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03920" y="2670048"/>
            <a:ext cx="210312" cy="0"/>
          </a:xfrm>
          <a:prstGeom prst="line">
            <a:avLst/>
          </a:prstGeom>
          <a:ln w="25400">
            <a:solidFill>
              <a:srgbClr val="2C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732520" y="2148840"/>
            <a:ext cx="141732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2C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13D"/>
                </a:solidFill>
              </a:defRPr>
            </a:pPr>
            <a:r>
              <a:t>6</a:t>
            </a:r>
            <a:br/>
            <a:r>
              <a:t>Preview / Edit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149840" y="2670048"/>
            <a:ext cx="210312" cy="0"/>
          </a:xfrm>
          <a:prstGeom prst="line">
            <a:avLst/>
          </a:prstGeom>
          <a:ln w="25400">
            <a:solidFill>
              <a:srgbClr val="2C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378440" y="2148840"/>
            <a:ext cx="141732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2C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13D"/>
                </a:solidFill>
              </a:defRPr>
            </a:pPr>
            <a:r>
              <a:t>7</a:t>
            </a:r>
            <a:br/>
            <a:r>
              <a:t>Download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77639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The user can generate common documents such as employment contracts, NDAs, lease agreements, service agreements, and custom documents.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Generated content is a draft and should be reviewed before legal use.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464"/>
                </a:solidFill>
              </a:defRPr>
            </a:pPr>
            <a:r>
              <a:t>LegalEase | B.Sc. Computer Science Project Presentation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13D"/>
                </a:solidFill>
              </a:rPr>
              <a:t>Sample Input – Employment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36576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27432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73152" cy="1143000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82495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Document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395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Employment Contract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554480"/>
            <a:ext cx="379476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11880" y="1554480"/>
            <a:ext cx="73152" cy="1143000"/>
          </a:xfrm>
          <a:prstGeom prst="rect">
            <a:avLst/>
          </a:prstGeom>
          <a:solidFill>
            <a:srgbClr val="27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13048" y="1682495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Effective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2084831"/>
            <a:ext cx="34472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01 October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80360"/>
            <a:ext cx="5257800" cy="233172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2880360"/>
            <a:ext cx="73152" cy="2331720"/>
          </a:xfrm>
          <a:prstGeom prst="rect">
            <a:avLst/>
          </a:prstGeom>
          <a:solidFill>
            <a:srgbClr val="C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008376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Parties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410712"/>
            <a:ext cx="4910328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ABC Technologies Pvt. Ltd. (Employer), represented by Mr. Rajesh Kumar, HR Manager, and Ms. Priya Sharma (Employee), appointed as Software Engineer.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2880360"/>
            <a:ext cx="5349240" cy="233172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26480" y="2880360"/>
            <a:ext cx="73152" cy="2331720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27648" y="3008376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Terms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3410712"/>
            <a:ext cx="5001768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Monthly salary INR 60,000; Monday–Friday 9 AM–5 PM; confidentiality; employer ownership of employment-related IP; leave as per policy; 30 days written notice.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464"/>
                </a:solidFill>
              </a:defRPr>
            </a:pPr>
            <a:r>
              <a:t>LegalEase | B.Sc. Computer Science Project Presentation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13D"/>
                </a:solidFill>
              </a:rPr>
              <a:t>API Design &amp; Data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36576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291840" cy="356616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73152" cy="3566160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728216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Endpoints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294436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GET /</a:t>
            </a:r>
            <a:br/>
            <a:r>
              <a:t>Welcome / service check</a:t>
            </a:r>
            <a:br/>
            <a:r>
              <a:t/>
            </a:r>
            <a:br/>
            <a:r>
              <a:t>GET /health</a:t>
            </a:r>
            <a:br/>
            <a:r>
              <a:t>Backend health status</a:t>
            </a:r>
            <a:br/>
            <a:r>
              <a:t/>
            </a:r>
            <a:br/>
            <a:r>
              <a:t>POST /generate</a:t>
            </a:r>
            <a:br/>
            <a:r>
              <a:t>Generate a document</a:t>
            </a:r>
            <a:br/>
            <a:r>
              <a:t/>
            </a:r>
            <a:br/>
            <a:r>
              <a:t>GET /docs</a:t>
            </a:r>
            <a:br/>
            <a:r>
              <a:t>Swagger / OpenAPI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600200"/>
            <a:ext cx="3429000" cy="356616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60" y="1600200"/>
            <a:ext cx="73152" cy="3566160"/>
          </a:xfrm>
          <a:prstGeom prst="rect">
            <a:avLst/>
          </a:prstGeom>
          <a:solidFill>
            <a:srgbClr val="27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53128" y="1728216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Request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2130552"/>
            <a:ext cx="30815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document_type</a:t>
            </a:r>
            <a:br/>
            <a:r>
              <a:t>parties</a:t>
            </a:r>
            <a:br/>
            <a:r>
              <a:t>terms</a:t>
            </a:r>
            <a:br/>
            <a:r>
              <a:t>dates</a:t>
            </a:r>
            <a:br/>
            <a:r>
              <a:t/>
            </a:r>
            <a:br/>
            <a:r>
              <a:t>Pydantic enforces minimum/maximum lengths before the AI call.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600200"/>
            <a:ext cx="3520440" cy="356616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09560" y="1600200"/>
            <a:ext cx="73152" cy="3566160"/>
          </a:xfrm>
          <a:prstGeom prst="rect">
            <a:avLst/>
          </a:prstGeom>
          <a:solidFill>
            <a:srgbClr val="C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0728" y="172821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Response &amp; Errors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8" y="2130552"/>
            <a:ext cx="317296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Success:</a:t>
            </a:r>
            <a:br/>
            <a:r>
              <a:t>{ "document": "..." }</a:t>
            </a:r>
            <a:br/>
            <a:r>
              <a:t/>
            </a:r>
            <a:br/>
            <a:r>
              <a:t>Handles missing configuration, AI runtime failures, backend connection errors, and request timeouts.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464"/>
                </a:solidFill>
              </a:defRPr>
            </a:pPr>
            <a:r>
              <a:t>LegalEase | B.Sc. Computer Science Project Presentation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13D"/>
                </a:solidFill>
              </a:rPr>
              <a:t>Document Preview &amp; Export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36576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3337560" cy="356616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73152" cy="3566160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773936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176272"/>
            <a:ext cx="299008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Plain-text output for portability and simple storage.</a:t>
            </a:r>
            <a:br/>
            <a:r>
              <a:t/>
            </a:r>
            <a:br/>
            <a:r>
              <a:t>Uses UTF-8 encoded sanitized 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337560" cy="356616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645920"/>
            <a:ext cx="73152" cy="3566160"/>
          </a:xfrm>
          <a:prstGeom prst="rect">
            <a:avLst/>
          </a:prstGeom>
          <a:solidFill>
            <a:srgbClr val="27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1773936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DOCX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176272"/>
            <a:ext cx="299008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Editable Word-compatible output.</a:t>
            </a:r>
            <a:br/>
            <a:r>
              <a:t/>
            </a:r>
            <a:br/>
            <a:r>
              <a:t>Uses Times New Roman, headings, paragraphs, bullets, and a review notice.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45920"/>
            <a:ext cx="3337560" cy="356616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645920"/>
            <a:ext cx="73152" cy="3566160"/>
          </a:xfrm>
          <a:prstGeom prst="rect">
            <a:avLst/>
          </a:prstGeom>
          <a:solidFill>
            <a:srgbClr val="C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773936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176272"/>
            <a:ext cx="299008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Fixed-layout output with LegalEase header and page footer.</a:t>
            </a:r>
            <a:br/>
            <a:r>
              <a:t/>
            </a:r>
            <a:br/>
            <a:r>
              <a:t>Suitable for review and sharing.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464"/>
                </a:solidFill>
              </a:defRPr>
            </a:pPr>
            <a:r>
              <a:t>LegalEase | B.Sc. Computer Science Project Presentation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13D"/>
                </a:solidFill>
              </a:rPr>
              <a:t>Testing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36576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12529"/>
                </a:solidFill>
              </a:defRPr>
            </a:pPr>
            <a:r>
              <a:t>Verify GET / and GET /health return successful responses.</a:t>
            </a:r>
          </a:p>
          <a:p>
            <a:pPr>
              <a:spcAft>
                <a:spcPts val="1200"/>
              </a:spcAft>
              <a:defRPr sz="1700">
                <a:solidFill>
                  <a:srgbClr val="212529"/>
                </a:solidFill>
              </a:defRPr>
            </a:pPr>
            <a:r>
              <a:t>Verify invalid /generate payloads are rejected with HTTP 422.</a:t>
            </a:r>
          </a:p>
          <a:p>
            <a:pPr>
              <a:spcAft>
                <a:spcPts val="1200"/>
              </a:spcAft>
              <a:defRPr sz="1700">
                <a:solidFill>
                  <a:srgbClr val="212529"/>
                </a:solidFill>
              </a:defRPr>
            </a:pPr>
            <a:r>
              <a:t>Verify valid inputs reach Gemini and return generated content.</a:t>
            </a:r>
          </a:p>
          <a:p>
            <a:pPr>
              <a:spcAft>
                <a:spcPts val="1200"/>
              </a:spcAft>
              <a:defRPr sz="1700">
                <a:solidFill>
                  <a:srgbClr val="212529"/>
                </a:solidFill>
              </a:defRPr>
            </a:pPr>
            <a:r>
              <a:t>Verify graceful behavior when the backend is stopped or the request times out.</a:t>
            </a:r>
          </a:p>
          <a:p>
            <a:pPr>
              <a:spcAft>
                <a:spcPts val="1200"/>
              </a:spcAft>
              <a:defRPr sz="1700">
                <a:solidFill>
                  <a:srgbClr val="212529"/>
                </a:solidFill>
              </a:defRPr>
            </a:pPr>
            <a:r>
              <a:t>Verify invalid/missing Gemini credentials produce understandable errors.</a:t>
            </a:r>
          </a:p>
          <a:p>
            <a:pPr>
              <a:spcAft>
                <a:spcPts val="1200"/>
              </a:spcAft>
              <a:defRPr sz="1700">
                <a:solidFill>
                  <a:srgbClr val="212529"/>
                </a:solidFill>
              </a:defRPr>
            </a:pPr>
            <a:r>
              <a:t>Verify edited text is retained and TXT, DOCX, and PDF files open correctly.</a:t>
            </a:r>
          </a:p>
          <a:p>
            <a:pPr>
              <a:spcAft>
                <a:spcPts val="1200"/>
              </a:spcAft>
              <a:defRPr sz="1700">
                <a:solidFill>
                  <a:srgbClr val="212529"/>
                </a:solidFill>
              </a:defRPr>
            </a:pPr>
            <a:r>
              <a:t>Because AI output is non-deterministic, validate structure and required content rather than exact wording.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464"/>
                </a:solidFill>
              </a:defRPr>
            </a:pPr>
            <a:r>
              <a:t>LegalEase | B.Sc. Computer Science Project Presentation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13D"/>
                </a:solidFill>
              </a:rPr>
              <a:t>Security, Responsible Use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36576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474720" cy="420624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73152" cy="4206240"/>
          </a:xfrm>
          <a:prstGeom prst="rect">
            <a:avLst/>
          </a:prstGeom>
          <a:solidFill>
            <a:srgbClr val="27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728216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Security practices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3127248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Gemini key stored in .env, excluded through .gitignore.</a:t>
            </a:r>
            <a:br/>
            <a:r>
              <a:t/>
            </a:r>
            <a:br/>
            <a:r>
              <a:t>Backend uses validation and restricted development CORS origins.</a:t>
            </a:r>
            <a:br/>
            <a:r>
              <a:t/>
            </a:r>
            <a:br/>
            <a:r>
              <a:t>Credentials are not hard-coded in source 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00200"/>
            <a:ext cx="3474720" cy="420624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600200"/>
            <a:ext cx="73152" cy="4206240"/>
          </a:xfrm>
          <a:prstGeom prst="rect">
            <a:avLst/>
          </a:prstGeom>
          <a:solidFill>
            <a:srgbClr val="C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728216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Responsible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30552"/>
            <a:ext cx="3127248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LegalEase produces AI-assisted drafts, not professional legal advice.</a:t>
            </a:r>
            <a:br/>
            <a:r>
              <a:t/>
            </a:r>
            <a:br/>
            <a:r>
              <a:t>Users should review generated content with a qualified legal professional before relying on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600200"/>
            <a:ext cx="3474720" cy="420624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10144" y="1600200"/>
            <a:ext cx="73152" cy="4206240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728216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Current 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130552"/>
            <a:ext cx="3127248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Requires internet and external AI availability.</a:t>
            </a:r>
            <a:br/>
            <a:r>
              <a:t/>
            </a:r>
            <a:br/>
            <a:r>
              <a:t>No authentication, database history, digital signatures, or jurisdiction-specific enforceability checking in the current version.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464"/>
                </a:solidFill>
              </a:defRPr>
            </a:pPr>
            <a:r>
              <a:t>LegalEase | B.Sc. Computer Science Project Presentation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13D"/>
                </a:solidFill>
              </a:rPr>
              <a:t>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36576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User authentication, profiles, and role-based access control.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Database-backed document history, versioning, and audit trail.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Jurisdiction-specific templates and professionally reviewed clause libraries.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Clause recommendation, risk highlighting, and document comparison.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Upload and analysis of existing legal documents.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Multilingual generation and improved branding/layout.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Digital signatures and secure cloud deployment.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Retrieval-augmented generation using appropriately verified legal resources.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464"/>
                </a:solidFill>
              </a:defRPr>
            </a:pPr>
            <a:r>
              <a:t>LegalEase | B.Sc. Computer Science Project Presentation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13D"/>
                </a:solidFill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36576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10561320" cy="2971800"/>
          </a:xfrm>
          <a:prstGeom prst="roundRect">
            <a:avLst/>
          </a:prstGeom>
          <a:solidFill>
            <a:srgbClr val="F2F6FA"/>
          </a:solidFill>
          <a:ln>
            <a:solidFill>
              <a:srgbClr val="DC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73152" cy="2971800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728216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13D"/>
                </a:solidFill>
              </a:defRPr>
            </a:pPr>
            <a:r>
              <a:t>Project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130552"/>
            <a:ext cx="10213848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</a:defRPr>
            </a:pPr>
            <a:r>
              <a:t>LegalEase demonstrates an end-to-end Generative AI application using Streamlit, FastAPI, Google Gemini, request validation, editable previews, and multi-format document export. Its modular architecture separates user interface, API logic, AI integration, formatting, and testing.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8006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12529"/>
                </a:solidFill>
              </a:defRPr>
            </a:pPr>
            <a:r>
              <a:t>Core learning: REST API integration + Generative AI + document generation + modular Python development.</a:t>
            </a:r>
          </a:p>
          <a:p>
            <a:pPr>
              <a:spcAft>
                <a:spcPts val="1200"/>
              </a:spcAft>
              <a:defRPr sz="1700">
                <a:solidFill>
                  <a:srgbClr val="212529"/>
                </a:solidFill>
              </a:defRPr>
            </a:pPr>
            <a:r>
              <a:t>The project is designed as a drafting assistant; human legal review remains essential.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464"/>
                </a:solidFill>
              </a:defRPr>
            </a:pPr>
            <a:r>
              <a:t>LegalEase | B.Sc. Computer Science Project Presentation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200">
                <a:solidFill>
                  <a:srgbClr val="BED7F0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749039"/>
            <a:ext cx="8503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LegalEase – AI-Powered Legal Document Generator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878</Words>
  <Application>Microsoft Office PowerPoint</Application>
  <PresentationFormat>Widescreen</PresentationFormat>
  <Paragraphs>137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Bhuvan</cp:lastModifiedBy>
  <cp:revision>1</cp:revision>
  <dcterms:created xsi:type="dcterms:W3CDTF">2013-01-27T09:14:16Z</dcterms:created>
  <dcterms:modified xsi:type="dcterms:W3CDTF">2026-09-30T07:56:34Z</dcterms:modified>
  <cp:category/>
</cp:coreProperties>
</file>